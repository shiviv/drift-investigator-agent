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965c078d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965c078d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965c078db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965c078d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65c078db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965c078d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965c078db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965c078d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965c078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965c078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65c078d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965c078d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965c078d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965c078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loom.com/share/aa4af2b6b7bf45f2ab27840bbe07d027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326880" y="3657600"/>
            <a:ext cx="4754880" cy="475488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966960" y="429768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0607040" y="4937760"/>
            <a:ext cx="2194560" cy="2194560"/>
          </a:xfrm>
          <a:prstGeom prst="ellipse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233172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DRIFT INVESTIGATOR AGENT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269748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Architecture &amp; Agent Logic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0080" y="37033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How a real tool-calling LangGraph agent investigates model drift, verifies its own claims, and pauses for human approval.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2A33"/>
                </a:solidFill>
                <a:latin typeface="Cambria"/>
                <a:ea typeface="Cambria"/>
                <a:cs typeface="Cambria"/>
                <a:sym typeface="Cambria"/>
              </a:rPr>
              <a:t>What the agent does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57200" y="1417320"/>
            <a:ext cx="11155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Given a feature and a model version, the agent investigates a drift alert entirely on its own — deciding what evidence to gather, reasoning about the likely cause, and writing a stakeholder report — before pausing for a human to approve it.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457200" y="2651760"/>
            <a:ext cx="3566160" cy="237744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31520" y="3611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Input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31520" y="40233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feature + model_version.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Nothing else is handed to it.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251960" y="2651760"/>
            <a:ext cx="3566160" cy="237744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52628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526280" y="3611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Process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526280" y="40233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Decides which tools to call,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in what order, and when it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has enough evidence.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8046720" y="2651760"/>
            <a:ext cx="3566160" cy="237744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832104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21040" y="3611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Output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21040" y="40233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A 5-section report,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checked by two guardrail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layers, pending approval.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1850" y="5540725"/>
            <a:ext cx="10619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agent does-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solidFill>
                  <a:schemeClr val="hlink"/>
                </a:solidFill>
                <a:hlinkClick r:id="rId3"/>
              </a:rPr>
              <a:t>https://www.loom.com/share/aa4af2b6b7bf45f2ab27840bbe07d027</a:t>
            </a:r>
            <a:endParaRPr b="1" sz="15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2A33"/>
                </a:solidFill>
                <a:latin typeface="Cambria"/>
                <a:ea typeface="Cambria"/>
                <a:cs typeface="Cambria"/>
                <a:sym typeface="Cambria"/>
              </a:rPr>
              <a:t>Four stages, one graph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02920" y="1965960"/>
            <a:ext cx="2468880" cy="283464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3152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31520" y="25328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Check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31520" y="3108960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Deterministic pre-check.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Skips the LLM entirely if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nothing's actually flagged.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2990088" y="3291840"/>
            <a:ext cx="28346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3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291840" y="1965960"/>
            <a:ext cx="2468880" cy="283464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352044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520440" y="25328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Investigate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520440" y="3108960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agent decides which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tools to call — drift,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lineage, metadata — and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when it's done.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79008" y="3291840"/>
            <a:ext cx="28346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3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080760" y="1965960"/>
            <a:ext cx="2468880" cy="283464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30936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309360" y="25328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Verify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309360" y="3108960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Two independent guardrail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layers review the report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before a human sees it.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8567928" y="3291840"/>
            <a:ext cx="283464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3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8869680" y="1965960"/>
            <a:ext cx="2468880" cy="283464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09828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098280" y="253288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Approve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098280" y="3108960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A real pause. Execution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genuinely halts until a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human approves or rejects.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02920" y="5074920"/>
            <a:ext cx="2468880" cy="685800"/>
          </a:xfrm>
          <a:prstGeom prst="roundRect">
            <a:avLst>
              <a:gd fmla="val 10000" name="adj"/>
            </a:avLst>
          </a:prstGeom>
          <a:solidFill>
            <a:srgbClr val="FBEF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85800" y="512064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B8730E"/>
                </a:solidFill>
                <a:latin typeface="Calibri"/>
                <a:ea typeface="Calibri"/>
                <a:cs typeface="Calibri"/>
                <a:sym typeface="Calibri"/>
              </a:rPr>
              <a:t>If nothing's flagged: skip straight to done. No LLM call at all.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1655064" y="4828032"/>
            <a:ext cx="164592" cy="21945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873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/>
        </p:nvSpPr>
        <p:spPr>
          <a:xfrm>
            <a:off x="-12" y="1268025"/>
            <a:ext cx="12191700" cy="4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Recordings &amp; Traces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https://www.loom.com/share/aa4af2b6b7bf45f2ab27840bbe07d027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LangGraph Studio Architecture Walkthrough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https://www.loom.com/share/380d8a19688143baa645ee98c8b5e810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LangSmith Trace — Live Run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https://smith.langchain.com/public/6083ec6a-2169-4ad3-aea4-e6e7ac0642d7/r/019f9ebc-29c3-7631-839e-fe2ca144e0ed?start_time=2026-07-26T14%3A02%3A40.279583Z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Streamlit UI Running Locally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https://www.loom.com/share/c8f58a6a83474828a3697adab5f40483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Guardrail Catch in Action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 declines to fabricate a root cause when none exists in the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https://www.loom.com/share/69db2736123b44238b455cb02927c49f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STAGE 02 — INVESTIGATE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2A33"/>
                </a:solidFill>
                <a:latin typeface="Cambria"/>
                <a:ea typeface="Cambria"/>
                <a:cs typeface="Cambria"/>
                <a:sym typeface="Cambria"/>
              </a:rPr>
              <a:t>The model decides, not the graph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57200" y="1554480"/>
            <a:ext cx="5120640" cy="233172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31520" y="1783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A WORKFLOW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31520" y="2084831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Fixed code path always fetches all sources, in the same order, whether or not it's useful.</a:t>
            </a:r>
            <a:endParaRPr/>
          </a:p>
        </p:txBody>
      </p:sp>
      <p:cxnSp>
        <p:nvCxnSpPr>
          <p:cNvPr id="158" name="Google Shape;158;p17"/>
          <p:cNvCxnSpPr/>
          <p:nvPr/>
        </p:nvCxnSpPr>
        <p:spPr>
          <a:xfrm>
            <a:off x="731520" y="292608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9" name="Google Shape;159;p17"/>
          <p:cNvSpPr txBox="1"/>
          <p:nvPr/>
        </p:nvSpPr>
        <p:spPr>
          <a:xfrm>
            <a:off x="731520" y="3063239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THIS AGENT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31520" y="3364991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The LLM sees three tools, chooses which to call and in what order, and stops once it has enough evidence.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75120" y="39319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agent ↔ tools, repeating until the model stops requesting tools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(hard-capped at 6 turns)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57200" y="4434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get_drift_metrics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457200" y="472744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Weekly PSI / accuracy time series for the feature.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251960" y="4434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get_lineage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251960" y="472744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Pipeline version history — deployments, known issues, incidents.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046720" y="4434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get_model_metadata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046720" y="472744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Accuracy, AUC, and feature importance over time.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7675" y="103450"/>
            <a:ext cx="4181350" cy="3737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STAGE 03 — VERIFY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2A33"/>
                </a:solidFill>
                <a:latin typeface="Cambria"/>
                <a:ea typeface="Cambria"/>
                <a:cs typeface="Cambria"/>
                <a:sym typeface="Cambria"/>
              </a:rPr>
              <a:t>Two independent guardrail layers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57200" y="1554480"/>
            <a:ext cx="5349240" cy="301752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31520" y="178308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31520" y="2057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Deterministic checks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31520" y="2514600"/>
            <a:ext cx="4800600" cy="1828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•  Input validation — unknown feature/version rejected with a clear error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•  Turn cap — forces a stop after 6 agent turns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•  Structural check — all 5 report sections present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•  Fabrication check — every number, pipeline version, and incident ID must trace to a real tool output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6080759" y="1554480"/>
            <a:ext cx="5349240" cy="301752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6355079" y="178308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355079" y="20574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LLM fact-checker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355079" y="25146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second, independent model call reviews the report against the raw tool output — catching a real value misapplied to the wrong claim, which presence-only checks can't.</a:t>
            </a:r>
            <a:endParaRPr/>
          </a:p>
        </p:txBody>
      </p:sp>
      <p:cxnSp>
        <p:nvCxnSpPr>
          <p:cNvPr id="185" name="Google Shape;185;p18"/>
          <p:cNvCxnSpPr/>
          <p:nvPr/>
        </p:nvCxnSpPr>
        <p:spPr>
          <a:xfrm>
            <a:off x="6355079" y="3520439"/>
            <a:ext cx="4800601" cy="0"/>
          </a:xfrm>
          <a:prstGeom prst="straightConnector1">
            <a:avLst/>
          </a:prstGeom>
          <a:noFill/>
          <a:ln cap="flat" cmpd="sng" w="12700">
            <a:solidFill>
              <a:srgbClr val="3B448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6" name="Google Shape;186;p18"/>
          <p:cNvSpPr txBox="1"/>
          <p:nvPr/>
        </p:nvSpPr>
        <p:spPr>
          <a:xfrm>
            <a:off x="6355079" y="365760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CAUGHT LIVE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355079" y="3886200"/>
            <a:ext cx="4800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“a -0.06 AUC swing” — real source numbers, wrong subtraction. Fact-checker computed the correct value (0.041) and named the error.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STAGE 04 — APPROVE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2A33"/>
                </a:solidFill>
                <a:latin typeface="Cambria"/>
                <a:ea typeface="Cambria"/>
                <a:cs typeface="Cambria"/>
                <a:sym typeface="Cambria"/>
              </a:rPr>
              <a:t>A real pause, not a fake one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457200" y="2103120"/>
            <a:ext cx="1554480" cy="82296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2029968" y="2432304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3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267712" y="2103120"/>
            <a:ext cx="1828800" cy="822960"/>
          </a:xfrm>
          <a:prstGeom prst="roundRect">
            <a:avLst>
              <a:gd fmla="val 8000" name="adj"/>
            </a:avLst>
          </a:prstGeom>
          <a:solidFill>
            <a:srgbClr val="FBEFDD"/>
          </a:solidFill>
          <a:ln cap="flat" cmpd="sng" w="19050">
            <a:solidFill>
              <a:srgbClr val="B873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8730E"/>
                </a:solidFill>
                <a:latin typeface="Calibri"/>
                <a:ea typeface="Calibri"/>
                <a:cs typeface="Calibri"/>
                <a:sym typeface="Calibri"/>
              </a:rPr>
              <a:t>interrupt()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114800" y="2432304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3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352544" y="2103120"/>
            <a:ext cx="2103120" cy="82296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reviews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473951" y="2432304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3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711696" y="2103120"/>
            <a:ext cx="2194560" cy="82296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approve / reject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8924544" y="2432304"/>
            <a:ext cx="219456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3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9162288" y="2103120"/>
            <a:ext cx="1920240" cy="82296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resume → END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57200" y="33832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Powered by LangGraph's interrupt() / Command(resume=…), backed by a checkpointer — execution genuinely halts and persists state until a human responds. Not a UI spinner standing in for a pause.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457200" y="4434840"/>
            <a:ext cx="10515600" cy="128016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731520" y="459028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the human sees at the pause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31520" y="489204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The full report  •  Any guardrail flags from both layers  •  The complete tool-call trace, in the order the agent actually made it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PROVIDER-AGNOSTIC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2A33"/>
                </a:solidFill>
                <a:latin typeface="Cambria"/>
                <a:ea typeface="Cambria"/>
                <a:cs typeface="Cambria"/>
                <a:sym typeface="Cambria"/>
              </a:rPr>
              <a:t>One agent, three LLM backends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57200" y="1691640"/>
            <a:ext cx="3566160" cy="210312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Groq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731520" y="2514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Llama-3.3-70B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4251960" y="1691640"/>
            <a:ext cx="3566160" cy="2103120"/>
          </a:xfrm>
          <a:prstGeom prst="roundRect">
            <a:avLst>
              <a:gd fmla="val 8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526280" y="2011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Anthropic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526280" y="2514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8046720" y="1691640"/>
            <a:ext cx="3566160" cy="2103120"/>
          </a:xfrm>
          <a:prstGeom prst="roundRect">
            <a:avLst>
              <a:gd fmla="val 8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Hugging Face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21040" y="2514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Llama-3.3-70B (free tier)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457200" y="4114800"/>
            <a:ext cx="106071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resolve_provider() auto-detects from whichever API key is set — Groq, then Anthropic, then Hugging Face — or an explicit choice overrides it. Each backend's chat-completion quirks (message formats, token limits) are normalized behind one _get_chat_model() call.</a:t>
            </a:r>
            <a:endParaRPr b="0" i="0" sz="1450" u="none" cap="none" strike="noStrike">
              <a:solidFill>
                <a:srgbClr val="2A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2A2A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It runs interchangeably on Groq, on Anthropic's Claude, or on Hugging Face's free inference tier, and it auto-detects whichever one is configured. I genuinely hit rate limits and a billing issue testing this, so having real fallbacks was necessary to keep working.</a:t>
            </a:r>
            <a:endParaRPr sz="1450">
              <a:solidFill>
                <a:srgbClr val="2A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 PRACTICE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A2A33"/>
                </a:solidFill>
                <a:latin typeface="Cambria"/>
                <a:ea typeface="Cambria"/>
                <a:cs typeface="Cambria"/>
                <a:sym typeface="Cambria"/>
              </a:rPr>
              <a:t>A real investigation, start to finish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457200" y="1600200"/>
            <a:ext cx="1828800" cy="758952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2514600" y="1600200"/>
            <a:ext cx="9189720" cy="758952"/>
          </a:xfrm>
          <a:prstGeom prst="roundRect">
            <a:avLst>
              <a:gd fmla="val 12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feature: total_charges, model_version: v14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457200" y="2496312"/>
            <a:ext cx="1828800" cy="758952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 calls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2514600" y="2496312"/>
            <a:ext cx="9189720" cy="758952"/>
          </a:xfrm>
          <a:prstGeom prst="roundRect">
            <a:avLst>
              <a:gd fmla="val 12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get_drift_metrics → get_lineage → get_model_metadata (agent's own choice and order)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457200" y="3392424"/>
            <a:ext cx="1828800" cy="758952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2514600" y="3392424"/>
            <a:ext cx="9189720" cy="758952"/>
          </a:xfrm>
          <a:prstGeom prst="roundRect">
            <a:avLst>
              <a:gd fmla="val 12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Billing Pipeline V2 (deployed 2 days before drift was observed) — labeled a hypothesis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457200" y="4288536"/>
            <a:ext cx="1828800" cy="758952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 flag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2514600" y="4288536"/>
            <a:ext cx="9189720" cy="758952"/>
          </a:xfrm>
          <a:prstGeom prst="roundRect">
            <a:avLst>
              <a:gd fmla="val 12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Fact-checker: “conventional 0.2 PSI threshold” cited — not present in any tool output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457200" y="5184648"/>
            <a:ext cx="1828800" cy="758952"/>
          </a:xfrm>
          <a:prstGeom prst="roundRect">
            <a:avLst>
              <a:gd fmla="val 12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decision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2514600" y="5184648"/>
            <a:ext cx="9189720" cy="758952"/>
          </a:xfrm>
          <a:prstGeom prst="roundRect">
            <a:avLst>
              <a:gd fmla="val 12000" name="adj"/>
            </a:avLst>
          </a:prstGeom>
          <a:solidFill>
            <a:srgbClr val="EEF3FD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2A33"/>
                </a:solidFill>
                <a:latin typeface="Calibri"/>
                <a:ea typeface="Calibri"/>
                <a:cs typeface="Calibri"/>
                <a:sym typeface="Calibri"/>
              </a:rPr>
              <a:t>Approved, with the flag visible for review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DESIGN PRINCIPLES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holds this together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188720" y="1847088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model decides, not the graph — tools are offered, not forced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188720" y="2624328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claim must trace to a real tool output, or it gets flagged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1188720" y="3401568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Guardrails are defense-in-depth, reviewed by a human — not a silent hard gate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1188720" y="4178807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Approval pauses genuinely halt execution, not a UI illusion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48640" y="4937759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25400" lIns="50800" spcFirstLastPara="1" rIns="508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188720" y="4956047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chat-model interface, three interchangeable backends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2636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125" y="104262"/>
            <a:ext cx="6938574" cy="664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4806325" cy="235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 bugs found and fixed</a:t>
            </a:r>
            <a:endParaRPr/>
          </a:p>
        </p:txBody>
      </p:sp>
      <p:sp>
        <p:nvSpPr>
          <p:cNvPr id="275" name="Google Shape;275;p24"/>
          <p:cNvSpPr txBox="1"/>
          <p:nvPr>
            <p:ph idx="1" type="body"/>
          </p:nvPr>
        </p:nvSpPr>
        <p:spPr>
          <a:xfrm>
            <a:off x="457200" y="1600200"/>
            <a:ext cx="109503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968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92"/>
              <a:buFont typeface="Arial"/>
              <a:buAutoNum type="arabicPeriod"/>
            </a:pPr>
            <a:r>
              <a:rPr lang="en-US" sz="1592">
                <a:latin typeface="Arial"/>
                <a:ea typeface="Arial"/>
                <a:cs typeface="Arial"/>
                <a:sym typeface="Arial"/>
              </a:rPr>
              <a:t>During testing, Claude incorrectly calculated the difference between two real AUC values, reporting a -0.06 swing when the actual difference was -0.041. An independent fact-checker node, which verifies reports against the raw data, identified the discrepancy and flagged the exact error.</a:t>
            </a:r>
            <a:endParaRPr sz="1592">
              <a:latin typeface="Arial"/>
              <a:ea typeface="Arial"/>
              <a:cs typeface="Arial"/>
              <a:sym typeface="Arial"/>
            </a:endParaRPr>
          </a:p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AutoNum type="arabicPeriod"/>
            </a:pPr>
            <a:r>
              <a:rPr lang="en-US" sz="1592">
                <a:latin typeface="Arial"/>
                <a:ea typeface="Arial"/>
                <a:cs typeface="Arial"/>
                <a:sym typeface="Arial"/>
              </a:rPr>
              <a:t>While testing with Groq, I found that tool calls with zero arguments returned the literal string </a:t>
            </a:r>
            <a:r>
              <a:rPr lang="en-US" sz="1592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"null"</a:t>
            </a:r>
            <a:r>
              <a:rPr lang="en-US" sz="1592">
                <a:latin typeface="Arial"/>
                <a:ea typeface="Arial"/>
                <a:cs typeface="Arial"/>
                <a:sym typeface="Arial"/>
              </a:rPr>
              <a:t>. Parsing this as JSON produced Python's </a:t>
            </a:r>
            <a:r>
              <a:rPr lang="en-US" sz="1592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n-US" sz="1592">
                <a:latin typeface="Arial"/>
                <a:ea typeface="Arial"/>
                <a:cs typeface="Arial"/>
                <a:sym typeface="Arial"/>
              </a:rPr>
              <a:t> instead of an empty dictionary, causing argument unpacking to fail until I explicitly handled that case.</a:t>
            </a:r>
            <a:endParaRPr sz="1592">
              <a:latin typeface="Arial"/>
              <a:ea typeface="Arial"/>
              <a:cs typeface="Arial"/>
              <a:sym typeface="Arial"/>
            </a:endParaRPr>
          </a:p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AutoNum type="arabicPeriod"/>
            </a:pPr>
            <a:r>
              <a:rPr lang="en-US" sz="1592">
                <a:latin typeface="Arial"/>
                <a:ea typeface="Arial"/>
                <a:cs typeface="Arial"/>
                <a:sym typeface="Arial"/>
              </a:rPr>
              <a:t>I identified a bug in my own guardrail logic where a case-sensitivity issue caused </a:t>
            </a:r>
            <a:r>
              <a:rPr lang="en-US" sz="1592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"v1"</a:t>
            </a:r>
            <a:r>
              <a:rPr lang="en-US" sz="1592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592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"V1"</a:t>
            </a:r>
            <a:r>
              <a:rPr lang="en-US" sz="1592">
                <a:latin typeface="Arial"/>
                <a:ea typeface="Arial"/>
                <a:cs typeface="Arial"/>
                <a:sym typeface="Arial"/>
              </a:rPr>
              <a:t> to be treated as different strings. As a result, a valid pipeline version was incorrectly flagged as fabricated.</a:t>
            </a:r>
            <a:endParaRPr sz="159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92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92">
                <a:latin typeface="Arial"/>
                <a:ea typeface="Arial"/>
                <a:cs typeface="Arial"/>
                <a:sym typeface="Arial"/>
              </a:rPr>
              <a:t>All of these issues, their root causes, and the corresponding fixes are documented in the trade-offs section of the planning folder.</a:t>
            </a:r>
            <a:endParaRPr sz="159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was cut, and the weakest part</a:t>
            </a:r>
            <a:endParaRPr/>
          </a:p>
        </p:txBody>
      </p:sp>
      <p:sp>
        <p:nvSpPr>
          <p:cNvPr id="281" name="Google Shape;281;p25"/>
          <p:cNvSpPr txBox="1"/>
          <p:nvPr>
            <p:ph idx="1" type="body"/>
          </p:nvPr>
        </p:nvSpPr>
        <p:spPr>
          <a:xfrm>
            <a:off x="457200" y="1600200"/>
            <a:ext cx="11547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US" sz="1592">
                <a:latin typeface="Arial"/>
                <a:ea typeface="Arial"/>
                <a:cs typeface="Arial"/>
                <a:sym typeface="Arial"/>
              </a:rPr>
              <a:t>There's a function called export_drift_summary, and its job is to pull structured results out of a live Deepchecks run. I wrote it against Deepchecks' documented API, but I never actually ran it end-to-end against a real, live Deepchecks execution to confirm the output shape is exactly right. It's wrapped in a try-except, so it fails gracefully instead of crashing anything — but 'doesn't crash' is not the same as 'verified correct.' If I kept working on this, running that function against a real pipeline and asserting its output schema is the very next thing I'd do.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Guardrails</a:t>
            </a:r>
            <a:endParaRPr/>
          </a:p>
        </p:txBody>
      </p:sp>
      <p:pic>
        <p:nvPicPr>
          <p:cNvPr id="287" name="Google Shape;2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825" y="1252550"/>
            <a:ext cx="10909701" cy="530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550" y="414375"/>
            <a:ext cx="9395775" cy="578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handling</a:t>
            </a:r>
            <a:endParaRPr/>
          </a:p>
        </p:txBody>
      </p:sp>
      <p:pic>
        <p:nvPicPr>
          <p:cNvPr id="298" name="Google Shape;298;p28" title="Screenshot 2026-07-26 at 10.59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12600"/>
            <a:ext cx="5353050" cy="451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 title="Screenshot 2026-07-26 at 11.00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2650" y="1570038"/>
            <a:ext cx="543877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