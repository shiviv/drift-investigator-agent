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657600"/>
            <a:ext cx="4754880" cy="4754880"/>
          </a:xfrm>
          <a:prstGeom prst="ellipse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4297680"/>
            <a:ext cx="3474720" cy="3474720"/>
          </a:xfrm>
          <a:prstGeom prst="ellipse">
            <a:avLst/>
          </a:prstGeom>
          <a:noFill/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4937760"/>
            <a:ext cx="2194560" cy="2194560"/>
          </a:xfrm>
          <a:prstGeom prst="ellipse">
            <a:avLst/>
          </a:prstGeom>
          <a:noFill/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200">
                <a:solidFill>
                  <a:srgbClr val="CADCFC"/>
                </a:solidFill>
                <a:latin typeface="Calibri"/>
              </a:rPr>
              <a:t>DRIFT INVESTIGATOR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Cambria"/>
              </a:rPr>
              <a:t>Architecture &amp; Agent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How a real tool-calling LangGraph agent investigates model drift, verifies its own claims, and pauses for human approval.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What the agent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2A2A33"/>
                </a:solidFill>
                <a:latin typeface="Calibri"/>
              </a:rPr>
              <a:t>Given a feature and a model version, the agent investigates a drift alert entirely on its own — deciding what evidence to gather, reasoning about the likely cause, and writing a stakeholder report — before pausing for a human to approve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E2761"/>
                </a:solidFill>
                <a:latin typeface="Cambria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feature + model_version.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Nothing else is handed to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26517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11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E2761"/>
                </a:solidFill>
                <a:latin typeface="Cambria"/>
              </a:rP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Decides which tools to call,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in what order, and when it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has enough evidence.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6517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E2761"/>
                </a:solidFill>
                <a:latin typeface="Cambria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0233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A 5-section report,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checked by two guardrail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2636F"/>
                </a:solidFill>
                <a:latin typeface="Calibri"/>
              </a:rPr>
              <a:t>layers, pending approval.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Four stages, one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468880" cy="283464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1E2761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328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E2761"/>
                </a:solidFill>
                <a:latin typeface="Cambria"/>
              </a:rPr>
              <a:t>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2636F"/>
                </a:solidFill>
                <a:latin typeface="Calibri"/>
              </a:rPr>
              <a:t>Deterministic pre-check.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2636F"/>
                </a:solidFill>
                <a:latin typeface="Calibri"/>
              </a:rPr>
              <a:t>Skips the LLM entirely if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2636F"/>
                </a:solidFill>
                <a:latin typeface="Calibri"/>
              </a:rPr>
              <a:t>nothing's actually flagged.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90088" y="3291840"/>
            <a:ext cx="283464" cy="182880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91840" y="1965960"/>
            <a:ext cx="2468880" cy="2834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328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0896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The agent decides which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tools to call — drift,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lineage, metadata — and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when it's done.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79008" y="3291840"/>
            <a:ext cx="283464" cy="182880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80760" y="1965960"/>
            <a:ext cx="2468880" cy="2834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328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10896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Two independent guardrail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layers review the report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before a human sees it.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67928" y="3291840"/>
            <a:ext cx="283464" cy="182880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1965960"/>
            <a:ext cx="2468880" cy="283464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194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1E2761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5328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E2761"/>
                </a:solidFill>
                <a:latin typeface="Cambria"/>
              </a:rPr>
              <a:t>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0896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2636F"/>
                </a:solidFill>
                <a:latin typeface="Calibri"/>
              </a:rPr>
              <a:t>A real pause. Execution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2636F"/>
                </a:solidFill>
                <a:latin typeface="Calibri"/>
              </a:rPr>
              <a:t>genuinely halts until a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2636F"/>
                </a:solidFill>
                <a:latin typeface="Calibri"/>
              </a:rPr>
              <a:t>human approves or rejects.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2468880" cy="685800"/>
          </a:xfrm>
          <a:prstGeom prst="roundRect">
            <a:avLst>
              <a:gd name="adj" fmla="val 10000"/>
            </a:avLst>
          </a:prstGeom>
          <a:solidFill>
            <a:srgbClr val="FB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20640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730E"/>
                </a:solidFill>
                <a:latin typeface="Calibri"/>
              </a:rPr>
              <a:t>If nothing's flagged: skip straight to done. No LLM call at all.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1655064" y="4828032"/>
            <a:ext cx="164592" cy="219456"/>
          </a:xfrm>
          <a:prstGeom prst="downArrow">
            <a:avLst/>
          </a:prstGeom>
          <a:solidFill>
            <a:srgbClr val="B87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STAGE 02 — INVESTIGATE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The model decides, not the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120640" cy="2331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62636F"/>
                </a:solidFill>
                <a:latin typeface="Calibri"/>
              </a:rPr>
              <a:t>A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84831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Fixed code path always fetches all sources, in the same order, whether or not it's useful.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926080"/>
            <a:ext cx="4572000" cy="0"/>
          </a:xfrm>
          <a:prstGeom prst="line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0632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1E2761"/>
                </a:solidFill>
                <a:latin typeface="Calibri"/>
              </a:rPr>
              <a:t>THIS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64991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The LLM sees three tools, chooses which to call and in what order, and stops once it has enough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691640"/>
            <a:ext cx="1828800" cy="731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0" i="0">
                <a:solidFill>
                  <a:srgbClr val="FFFFFF"/>
                </a:solidFill>
                <a:latin typeface="Cambria"/>
              </a:rPr>
              <a:t>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246120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drift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423160"/>
            <a:ext cx="0" cy="822960"/>
          </a:xfrm>
          <a:prstGeom prst="line">
            <a:avLst/>
          </a:prstGeom>
          <a:ln w="15875">
            <a:solidFill>
              <a:srgbClr val="62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12480" y="3246120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lineage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0" y="2423160"/>
            <a:ext cx="0" cy="822960"/>
          </a:xfrm>
          <a:prstGeom prst="line">
            <a:avLst/>
          </a:prstGeom>
          <a:ln w="15875">
            <a:solidFill>
              <a:srgbClr val="62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49840" y="3246120"/>
            <a:ext cx="146304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1E2761"/>
                </a:solidFill>
                <a:latin typeface="Calibri"/>
              </a:rPr>
              <a:t>metadata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81360" y="2423160"/>
            <a:ext cx="0" cy="822960"/>
          </a:xfrm>
          <a:prstGeom prst="line">
            <a:avLst/>
          </a:prstGeom>
          <a:ln w="15875">
            <a:solidFill>
              <a:srgbClr val="6263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75120" y="39319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62636F"/>
                </a:solidFill>
                <a:latin typeface="Calibri"/>
              </a:rPr>
              <a:t>agent ↔ tools, repeating until the model stops requesting tools</a:t>
            </a:r>
          </a:p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62636F"/>
                </a:solidFill>
                <a:latin typeface="Calibri"/>
              </a:rPr>
              <a:t>(hard-capped at 6 turns)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get_drift_metrics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2744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2636F"/>
                </a:solidFill>
                <a:latin typeface="Calibri"/>
              </a:rPr>
              <a:t>Weekly PSI / accuracy time series for the feature.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434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get_lineage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72744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2636F"/>
                </a:solidFill>
                <a:latin typeface="Calibri"/>
              </a:rPr>
              <a:t>Pipeline version history — deployments, known issues, incidents.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4348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E2761"/>
                </a:solidFill>
                <a:latin typeface="Calibri"/>
              </a:rPr>
              <a:t>get_model_metadata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727448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2636F"/>
                </a:solidFill>
                <a:latin typeface="Calibri"/>
              </a:rPr>
              <a:t>Accuracy, AUC, and feature importance over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STAGE 03 —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Two independent guardrail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49240" cy="30175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1E2761"/>
                </a:solidFill>
                <a:latin typeface="Calibri"/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E2761"/>
                </a:solidFill>
                <a:latin typeface="Cambria"/>
              </a:rPr>
              <a:t>Deterministic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4800600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A2A33"/>
                </a:solidFill>
                <a:latin typeface="Calibri"/>
              </a:rPr>
              <a:t>•  Input validation — unknown feature/version rejected with a clear error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A2A33"/>
                </a:solidFill>
                <a:latin typeface="Calibri"/>
              </a:rPr>
              <a:t>•  Turn cap — forces a stop after 6 agent turns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A2A33"/>
                </a:solidFill>
                <a:latin typeface="Calibri"/>
              </a:rPr>
              <a:t>•  Structural check — all 5 report sections present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 i="0">
                <a:solidFill>
                  <a:srgbClr val="2A2A33"/>
                </a:solidFill>
                <a:latin typeface="Calibri"/>
              </a:rPr>
              <a:t>•  Fabrication check — every number, pipeline version, and incident ID must trace to a real tool output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59" y="1554480"/>
            <a:ext cx="5349240" cy="30175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178308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00">
                <a:solidFill>
                  <a:srgbClr val="CADCFC"/>
                </a:solidFill>
                <a:latin typeface="Calibri"/>
              </a:rPr>
              <a:t>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205740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mbria"/>
              </a:rPr>
              <a:t>LLM fact-checker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2514600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A second, independent model call reviews the report against the raw tool output — catching a real value misapplied to the wrong claim, which presence-only checks can't.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79" y="3520439"/>
            <a:ext cx="4800601" cy="0"/>
          </a:xfrm>
          <a:prstGeom prst="line">
            <a:avLst/>
          </a:prstGeom>
          <a:ln w="12700">
            <a:solidFill>
              <a:srgbClr val="3B44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79" y="365760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00">
                <a:solidFill>
                  <a:srgbClr val="CADCFC"/>
                </a:solidFill>
                <a:latin typeface="Calibri"/>
              </a:rPr>
              <a:t>CAUGHT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3886200"/>
            <a:ext cx="4800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FFFFFF"/>
                </a:solidFill>
                <a:latin typeface="Calibri"/>
              </a:rPr>
              <a:t>“a -0.06 AUC swing” — real source numbers, wrong subtraction. Fact-checker computed the correct value (0.041) and named the error.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STAGE 04 — APPROVE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A real pause, not a fake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554480" cy="82296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agent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29968" y="2432304"/>
            <a:ext cx="219456" cy="164592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67712" y="2103120"/>
            <a:ext cx="1828800" cy="822960"/>
          </a:xfrm>
          <a:prstGeom prst="roundRect">
            <a:avLst>
              <a:gd name="adj" fmla="val 8000"/>
            </a:avLst>
          </a:prstGeom>
          <a:solidFill>
            <a:srgbClr val="FBEFDD"/>
          </a:solidFill>
          <a:ln w="19050">
            <a:solidFill>
              <a:srgbClr val="B873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B8730E"/>
                </a:solidFill>
                <a:latin typeface="Calibri"/>
              </a:rPr>
              <a:t>interrupt()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4800" y="2432304"/>
            <a:ext cx="219456" cy="164592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2544" y="2103120"/>
            <a:ext cx="2103120" cy="8229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human reviews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473951" y="2432304"/>
            <a:ext cx="219456" cy="164592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11696" y="210312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approve / reject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24544" y="2432304"/>
            <a:ext cx="219456" cy="164592"/>
          </a:xfrm>
          <a:prstGeom prst="rightArrow">
            <a:avLst/>
          </a:prstGeom>
          <a:solidFill>
            <a:srgbClr val="626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62288" y="2103120"/>
            <a:ext cx="1920240" cy="82296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resume → 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A2A33"/>
                </a:solidFill>
                <a:latin typeface="Calibri"/>
              </a:rPr>
              <a:t>Powered by LangGraph's interrupt() / Command(resume=…), backed by a checkpointer — execution genuinely halts and persists state until a human responds. Not a UI spinner standing in for a pause.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34840"/>
            <a:ext cx="10515600" cy="128016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902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What the human sees at the pause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9204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The full report  •  Any guardrail flags from both layers  •  The complete tool-call trace, in the order the agent actually made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PROVIDER-AGNOSTIC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One agent, three LLM backends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  <a:latin typeface="Cambria"/>
              </a:rPr>
              <a:t>Groq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2636F"/>
                </a:solidFill>
                <a:latin typeface="Calibri"/>
              </a:rPr>
              <a:t>Llama-3.3-70B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mbria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Calibri"/>
              </a:rPr>
              <a:t>Claude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9164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E2761"/>
                </a:solidFill>
                <a:latin typeface="Cambria"/>
              </a:rPr>
              <a:t>Hugging 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62636F"/>
                </a:solidFill>
                <a:latin typeface="Calibri"/>
              </a:rPr>
              <a:t>Llama-3.3-70B (free tier)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2A2A33"/>
                </a:solidFill>
                <a:latin typeface="Calibri"/>
              </a:rPr>
              <a:t>resolve_provider() auto-detects from whichever API key is set — Groq, then Anthropic, then Hugging Face — or an explicit choice overrides it. Each backend's chat-completion quirks (message formats, token limits) are normalized behind one _get_chat_model() 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150">
                <a:solidFill>
                  <a:srgbClr val="1E2761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2A2A33"/>
                </a:solidFill>
                <a:latin typeface="Cambria"/>
              </a:rPr>
              <a:t>A real investigation, start to finish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200"/>
            <a:ext cx="1828800" cy="75895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600200"/>
            <a:ext cx="9189720" cy="758952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feature: total_charges, model_version: v14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96312"/>
            <a:ext cx="1828800" cy="75895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Tool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496312"/>
            <a:ext cx="9189720" cy="758952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get_drift_metrics → get_lineage → get_model_metadata (agent's own choice and order)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92424"/>
            <a:ext cx="1828800" cy="75895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Root cause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3392424"/>
            <a:ext cx="9189720" cy="758952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Billing Pipeline V2 (deployed 2 days before drift was observed) — labeled a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88536"/>
            <a:ext cx="1828800" cy="75895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Guardrail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4288536"/>
            <a:ext cx="9189720" cy="758952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Fact-checker: “conventional 0.2 PSI threshold” cited — not present in any tool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84648"/>
            <a:ext cx="1828800" cy="758952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Human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5184648"/>
            <a:ext cx="9189720" cy="758952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A2A33"/>
                </a:solidFill>
                <a:latin typeface="Calibri"/>
              </a:rPr>
              <a:t>Approved, with the flag visible for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150">
                <a:solidFill>
                  <a:srgbClr val="CADCFC"/>
                </a:solidFill>
                <a:latin typeface="Calibri"/>
              </a:rPr>
              <a:t>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Cambria"/>
              </a:rPr>
              <a:t>What holds this together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4708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The model decides, not the graph — tools are offered, not forced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0604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2432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Every claim must trace to a real tool output, or it gets flagged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0156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Guardrails are defense-in-depth, reviewed by a human — not a silent hard gate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78807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Approval pauses genuinely halt execution, not a UI illusion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37759"/>
            <a:ext cx="411480" cy="41148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600" b="1" i="0">
                <a:solidFill>
                  <a:srgbClr val="1E2761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56047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alibri"/>
              </a:rPr>
              <a:t>One chat-model interface, three interchangeable backends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2636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